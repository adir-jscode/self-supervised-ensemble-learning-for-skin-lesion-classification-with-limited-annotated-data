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4320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" d="100"/>
          <a:sy n="16" d="100"/>
        </p:scale>
        <p:origin x="348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7183123"/>
            <a:ext cx="23317200" cy="1528064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23053043"/>
            <a:ext cx="20574000" cy="10596877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6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1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10942333"/>
            <a:ext cx="23660100" cy="1825751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9372573"/>
            <a:ext cx="23660100" cy="960119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9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11684000"/>
            <a:ext cx="1165860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11684000"/>
            <a:ext cx="1165860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0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336810"/>
            <a:ext cx="2366010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10759443"/>
            <a:ext cx="11605020" cy="527303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6032480"/>
            <a:ext cx="11605020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10759443"/>
            <a:ext cx="11662173" cy="527303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6032480"/>
            <a:ext cx="11662173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38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9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16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926080"/>
            <a:ext cx="8847534" cy="1024128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6319530"/>
            <a:ext cx="13887450" cy="311912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3167360"/>
            <a:ext cx="8847534" cy="24394163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926080"/>
            <a:ext cx="8847534" cy="1024128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6319530"/>
            <a:ext cx="13887450" cy="31191200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3167360"/>
            <a:ext cx="8847534" cy="24394163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3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2336800"/>
            <a:ext cx="5915025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2336800"/>
            <a:ext cx="17402175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29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7183123"/>
            <a:ext cx="23317200" cy="15280640"/>
          </a:xfrm>
        </p:spPr>
        <p:txBody>
          <a:bodyPr anchor="b"/>
          <a:lstStyle>
            <a:lvl1pPr algn="ctr">
              <a:defRPr sz="17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23053046"/>
            <a:ext cx="20574000" cy="10596877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545" indent="0" algn="ctr">
              <a:buNone/>
              <a:defRPr sz="6000"/>
            </a:lvl2pPr>
            <a:lvl3pPr marL="2743090" indent="0" algn="ctr">
              <a:buNone/>
              <a:defRPr sz="5400"/>
            </a:lvl3pPr>
            <a:lvl4pPr marL="4114635" indent="0" algn="ctr">
              <a:buNone/>
              <a:defRPr sz="4800"/>
            </a:lvl4pPr>
            <a:lvl5pPr marL="5486181" indent="0" algn="ctr">
              <a:buNone/>
              <a:defRPr sz="4800"/>
            </a:lvl5pPr>
            <a:lvl6pPr marL="6857726" indent="0" algn="ctr">
              <a:buNone/>
              <a:defRPr sz="4800"/>
            </a:lvl6pPr>
            <a:lvl7pPr marL="8229271" indent="0" algn="ctr">
              <a:buNone/>
              <a:defRPr sz="4800"/>
            </a:lvl7pPr>
            <a:lvl8pPr marL="9600816" indent="0" algn="ctr">
              <a:buNone/>
              <a:defRPr sz="4800"/>
            </a:lvl8pPr>
            <a:lvl9pPr marL="10972361" indent="0" algn="ctr">
              <a:buNone/>
              <a:defRPr sz="48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BB8BF0-1B62-88D2-2AA9-9DD641B32A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41336" y="20495188"/>
            <a:ext cx="3657864" cy="452643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86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2336810"/>
            <a:ext cx="2366010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11684000"/>
            <a:ext cx="2366010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40680650"/>
            <a:ext cx="617220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62287-EE82-4CAC-8118-A3C92F32CD3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40680650"/>
            <a:ext cx="925830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40680650"/>
            <a:ext cx="617220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B3A4A-BAB8-48FE-8D64-764B79336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8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58C19-3F11-8F0C-3135-48E3F9B72B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7432000" cy="34258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BCD7D-3B81-005A-DD36-8B00EB4A180F}"/>
              </a:ext>
            </a:extLst>
          </p:cNvPr>
          <p:cNvSpPr txBox="1">
            <a:spLocks/>
          </p:cNvSpPr>
          <p:nvPr/>
        </p:nvSpPr>
        <p:spPr>
          <a:xfrm>
            <a:off x="904876" y="170943"/>
            <a:ext cx="16363950" cy="152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66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 Supervised Ensemble Learning For Skin Lesion Classification With Limited Annotated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FC02B-8ADF-7B47-2F40-24D412BC06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5350" y="1750517"/>
            <a:ext cx="13722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Year Thesis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68CFF-0D43-E6ED-92A9-0D197402D8A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5350" y="2659410"/>
            <a:ext cx="13722350" cy="125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/>
            </a:pP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Mahatab, Sharif Hadi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(20-43625-2)</a:t>
            </a:r>
            <a:r>
              <a:rPr lang="en-US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Adir, Md Sarafat Ali (20-41926-1),Rifa, Tasnim Zaman(21-45663-3),           </a:t>
            </a:r>
            <a:r>
              <a:rPr lang="en-US" sz="20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Anzoom,Tanvir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(20-41920-1)</a:t>
            </a:r>
            <a:endParaRPr lang="en-US" altLang="en-US" sz="2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1500"/>
              </a:spcBef>
              <a:defRPr/>
            </a:pPr>
            <a:endParaRPr lang="en-US" altLang="en-US" sz="2333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28DCB-21B5-9CA7-DFC9-C2644A953A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42214005"/>
            <a:ext cx="27431999" cy="16771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69C2A6-9564-09BF-3989-9D297CD227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40724" y="42544923"/>
            <a:ext cx="9272571" cy="110349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667"/>
              </a:spcAft>
              <a:defRPr/>
            </a:pPr>
            <a:r>
              <a:rPr lang="en-US" altLang="en-US" sz="2333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Science, Faculty of Science and Technology.</a:t>
            </a:r>
          </a:p>
          <a:p>
            <a:pPr>
              <a:spcAft>
                <a:spcPts val="667"/>
              </a:spcAft>
              <a:defRPr/>
            </a:pPr>
            <a:r>
              <a:rPr lang="en-US" sz="2333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American International University-Bangladesh (AIUB)</a:t>
            </a:r>
            <a:endParaRPr lang="en-US" sz="2833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67"/>
              </a:spcAft>
              <a:defRPr/>
            </a:pPr>
            <a:endParaRPr lang="en-US" altLang="en-US" sz="2333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3903A7-9AB1-3F93-9E69-2D1474DD54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8443" y="322262"/>
            <a:ext cx="27813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3">
            <a:extLst>
              <a:ext uri="{FF2B5EF4-FFF2-40B4-BE49-F238E27FC236}">
                <a16:creationId xmlns:a16="http://schemas.microsoft.com/office/drawing/2014/main" id="{BF5512A1-67FF-5B6E-9559-157557AC0C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957742" y="4128502"/>
            <a:ext cx="8191500" cy="185254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just">
              <a:lnSpc>
                <a:spcPts val="3833"/>
              </a:lnSpc>
              <a:spcAft>
                <a:spcPts val="1000"/>
              </a:spcAft>
            </a:pPr>
            <a:r>
              <a:rPr lang="en-US" sz="4000" b="1" dirty="0">
                <a:solidFill>
                  <a:srgbClr val="005BBB"/>
                </a:solidFill>
                <a:latin typeface="+mj-lt"/>
              </a:rPr>
              <a:t>Introduction</a:t>
            </a:r>
          </a:p>
          <a:p>
            <a:pPr algn="just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Skin cancer is one of the most common and dangerous forms of cancer, where early detection significantly improves patient survival.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Dermoscopic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imaging provides detailed skin-lesion visuals, but accurate diagnosis requires expertise and large amounts of labeled medical data—something often unavailable in real-world clinical settings.</a:t>
            </a:r>
          </a:p>
          <a:p>
            <a:pPr algn="just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Self-Supervised Learning (SSL) has recently emerged as a powerful solution for reducing reliance on annotated data. Among SSL methods, </a:t>
            </a:r>
            <a:r>
              <a:rPr 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uses contrastive learning to extract high-quality visual features from unlabeled images. When combined with supervised fine-tuning, SSL can significantly enhance model robustness—especially for minority classes in imbalanced datasets like 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HAM10000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This study introduces a 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Hybrid SSL–Supervised Ensemble Framework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that integrates:</a:t>
            </a:r>
          </a:p>
          <a:p>
            <a:pPr algn="just"/>
            <a:r>
              <a:rPr 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-pretrained ResNet50 (SSL Encoder)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Supervised ResNet50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Supervised EfficientNetB0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Using only 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20% labeled data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, the proposed ensemble demonstrates strong generalization and improved lesion classification performance, outperforming individual models and baseline supervised training.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9E7B9A-91F1-E077-42D9-51C400781E9D}"/>
              </a:ext>
            </a:extLst>
          </p:cNvPr>
          <p:cNvCxnSpPr/>
          <p:nvPr/>
        </p:nvCxnSpPr>
        <p:spPr bwMode="auto">
          <a:xfrm>
            <a:off x="1057938" y="22245227"/>
            <a:ext cx="7991107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C13C292-6D19-B141-05A3-5704DC93016B}"/>
              </a:ext>
            </a:extLst>
          </p:cNvPr>
          <p:cNvSpPr txBox="1">
            <a:spLocks/>
          </p:cNvSpPr>
          <p:nvPr/>
        </p:nvSpPr>
        <p:spPr>
          <a:xfrm>
            <a:off x="895351" y="22678310"/>
            <a:ext cx="8191500" cy="15805289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>
            <a:spAutoFit/>
          </a:bodyPr>
          <a:lstStyle/>
          <a:p>
            <a:pPr algn="just">
              <a:lnSpc>
                <a:spcPts val="3833"/>
              </a:lnSpc>
              <a:spcAft>
                <a:spcPts val="1000"/>
              </a:spcAft>
              <a:defRPr/>
            </a:pPr>
            <a:r>
              <a:rPr lang="en-US" sz="2800" b="1" dirty="0">
                <a:solidFill>
                  <a:srgbClr val="005B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Our approach integrates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Self-Supervised Learning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Supervised Fine-Tuning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Ensembling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to achieve high accuracy with limited annotated data.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1. Data Preparation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HAM10000 dataset (7 classes, 10,015 images)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20% used 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labeled data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remaining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80% unlabeled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Standard augmentations: flip, rotation, brightness, contrast, zoom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Stratified splitting into Train/Val/Test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2. Self-Supervised Pretraining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Unlabeled subset passed through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dual augmentations → encoder → projection head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NT-Xent contrastive loss learns representation without labels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Produces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robust feature extractor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for skin lesions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3. Supervised Fine-Tuning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Three models trained on labeled data:</a:t>
            </a: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ResNet50 (Supervised)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EfficientNetB0 (Supervised)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ResNet50-SSL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-pretrained + classifier head)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Class imbalance handled via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class weights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4. Ensemble Model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Outputs of all three models averaged (soft-voting)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Improves stability, reduces variance, strengthens minority-class detection</a:t>
            </a: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Final ensemble used for evaluation</a:t>
            </a:r>
          </a:p>
          <a:p>
            <a:pPr algn="just">
              <a:lnSpc>
                <a:spcPts val="3833"/>
              </a:lnSpc>
              <a:spcAft>
                <a:spcPts val="833"/>
              </a:spcAft>
              <a:defRPr/>
            </a:pPr>
            <a:endParaRPr lang="en-US" sz="28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118C7B-FBB4-9799-28F2-195BF99F561A}"/>
              </a:ext>
            </a:extLst>
          </p:cNvPr>
          <p:cNvSpPr txBox="1">
            <a:spLocks/>
          </p:cNvSpPr>
          <p:nvPr/>
        </p:nvSpPr>
        <p:spPr>
          <a:xfrm>
            <a:off x="9795072" y="12007085"/>
            <a:ext cx="8191500" cy="749019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>
            <a:spAutoFit/>
          </a:bodyPr>
          <a:lstStyle/>
          <a:p>
            <a:pPr algn="just">
              <a:lnSpc>
                <a:spcPts val="3833"/>
              </a:lnSpc>
              <a:spcAft>
                <a:spcPts val="1000"/>
              </a:spcAft>
              <a:defRPr/>
            </a:pPr>
            <a:r>
              <a:rPr lang="en-US" sz="4000" b="1" dirty="0">
                <a:solidFill>
                  <a:srgbClr val="005BBB"/>
                </a:solidFill>
                <a:latin typeface="+mj-lt"/>
              </a:rPr>
              <a:t>Data Analysis </a:t>
            </a:r>
          </a:p>
          <a:p>
            <a:pPr algn="just">
              <a:lnSpc>
                <a:spcPts val="3833"/>
              </a:lnSpc>
              <a:spcAft>
                <a:spcPts val="1000"/>
              </a:spcAft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HAM10000 dataset contains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10,015 images across 7 lesion classes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with a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highly imbalanced distribution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nevus 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dominates the dataset, while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vasc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classes are underrepresented. To address real-world limited-label conditions, only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20% of training samples were used as labeled data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while the remaining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80% unlabeled images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were leveraged for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self-supervised pretraining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Light augmentations (flip, rotation, brightness/contrast, zoom) were applied to improve generalization. Class imbalance was handled with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stratified sampling and class-weighting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b="1" dirty="0">
              <a:solidFill>
                <a:srgbClr val="005B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90329AB1-26B5-DD95-62D2-EA0F04DB75D9}"/>
              </a:ext>
            </a:extLst>
          </p:cNvPr>
          <p:cNvCxnSpPr/>
          <p:nvPr/>
        </p:nvCxnSpPr>
        <p:spPr bwMode="auto">
          <a:xfrm>
            <a:off x="1069448" y="39405762"/>
            <a:ext cx="81534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D564BAF5-36D3-3279-E82E-A8D09F842047}"/>
              </a:ext>
            </a:extLst>
          </p:cNvPr>
          <p:cNvCxnSpPr/>
          <p:nvPr/>
        </p:nvCxnSpPr>
        <p:spPr bwMode="auto">
          <a:xfrm>
            <a:off x="10019898" y="25251665"/>
            <a:ext cx="81534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FE639642-0756-CFE0-BE9E-484465460BAC}"/>
              </a:ext>
            </a:extLst>
          </p:cNvPr>
          <p:cNvSpPr txBox="1">
            <a:spLocks/>
          </p:cNvSpPr>
          <p:nvPr/>
        </p:nvSpPr>
        <p:spPr>
          <a:xfrm>
            <a:off x="10108389" y="25536608"/>
            <a:ext cx="8153400" cy="5540940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algn="just">
              <a:lnSpc>
                <a:spcPts val="3833"/>
              </a:lnSpc>
              <a:spcAft>
                <a:spcPts val="1000"/>
              </a:spcAft>
              <a:defRPr/>
            </a:pPr>
            <a:r>
              <a:rPr lang="en-US" sz="2800" b="1" dirty="0">
                <a:solidFill>
                  <a:srgbClr val="005B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algn="just">
              <a:lnSpc>
                <a:spcPts val="3833"/>
              </a:lnSpc>
              <a:spcAft>
                <a:spcPts val="1500"/>
              </a:spcAft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proposed SSL–Supervised Ensemble achieved 76% test accuracy and 0.91 ROC-AUC on HAM10000 using only 20% labeled data.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pretraining significantly improved feature quality, especially for minority lesion classes. The ensemble (ResNet50 + EfficientNetB0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encoder) demonstrated superior robustness, balanced performance across classes, and strong generalization, outperforming all individual models.</a:t>
            </a:r>
            <a:endParaRPr lang="en-US" sz="28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01AFBA88-4F44-87CA-6513-11AC6BC5B057}"/>
              </a:ext>
            </a:extLst>
          </p:cNvPr>
          <p:cNvSpPr txBox="1">
            <a:spLocks/>
          </p:cNvSpPr>
          <p:nvPr/>
        </p:nvSpPr>
        <p:spPr>
          <a:xfrm>
            <a:off x="18354979" y="20506899"/>
            <a:ext cx="8191500" cy="9341981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>
            <a:spAutoFit/>
          </a:bodyPr>
          <a:lstStyle/>
          <a:p>
            <a:pPr algn="just">
              <a:lnSpc>
                <a:spcPts val="3833"/>
              </a:lnSpc>
              <a:spcAft>
                <a:spcPts val="1000"/>
              </a:spcAft>
              <a:defRPr/>
            </a:pPr>
            <a:r>
              <a:rPr lang="en-US" sz="4000" b="1" dirty="0">
                <a:solidFill>
                  <a:srgbClr val="005BBB"/>
                </a:solidFill>
                <a:latin typeface="+mj-lt"/>
              </a:rPr>
              <a:t>Conclusion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research presents a Self-Supervised + Supervised Ensemble Framework for skin lesion classification that achieves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high accuracy (76%)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strong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ROC-AUC (0.91)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despite using only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20% labeled data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By integrating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self-supervised pretraining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ResNet50 and EfficientNetB0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the proposed approach effectively leverages the unlabeled portion of HAM10000, improving feature quality, class balance, and robustness.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ensemble consistently outperformed individual models, especially on minority and challenging lesion categories, demonstrating superior generalization and improved clinical relevance. These findings confirm that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self-supervised learning is a powerful solution for medical imaging tasks with limited annotated data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enabling efficient and reliable automated skin cancer detection.</a:t>
            </a:r>
          </a:p>
          <a:p>
            <a:pPr algn="just">
              <a:lnSpc>
                <a:spcPts val="3833"/>
              </a:lnSpc>
              <a:spcAft>
                <a:spcPts val="1000"/>
              </a:spcAft>
              <a:defRPr/>
            </a:pP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.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F831B0C1-6CC7-02D5-929B-BBDBF5209391}"/>
              </a:ext>
            </a:extLst>
          </p:cNvPr>
          <p:cNvCxnSpPr/>
          <p:nvPr/>
        </p:nvCxnSpPr>
        <p:spPr bwMode="auto">
          <a:xfrm>
            <a:off x="9798371" y="39405762"/>
            <a:ext cx="81534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247AC93-F3A5-CFD1-FE45-732FCFDA5933}"/>
              </a:ext>
            </a:extLst>
          </p:cNvPr>
          <p:cNvSpPr txBox="1">
            <a:spLocks/>
          </p:cNvSpPr>
          <p:nvPr/>
        </p:nvSpPr>
        <p:spPr>
          <a:xfrm>
            <a:off x="18619714" y="29891722"/>
            <a:ext cx="8114593" cy="4702056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algn="just">
              <a:lnSpc>
                <a:spcPts val="3167"/>
              </a:lnSpc>
              <a:spcAft>
                <a:spcPts val="1000"/>
              </a:spcAft>
              <a:buClr>
                <a:schemeClr val="tx2"/>
              </a:buClr>
              <a:defRPr/>
            </a:pPr>
            <a:r>
              <a:rPr lang="en-US" sz="4000" b="1" dirty="0">
                <a:solidFill>
                  <a:srgbClr val="005BBB"/>
                </a:solidFill>
                <a:latin typeface="+mj-lt"/>
              </a:rPr>
              <a:t>References</a:t>
            </a: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  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Phasellus nec lectus bibendum, posuere nibh id, lacinia magna </a:t>
            </a: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  Mauris orci mi, varius id diam id, egestas auctor enim</a:t>
            </a: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  Duis vitae tincidunt tortor, vitae sollicitudin magna</a:t>
            </a: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  Aenean et est sem. Phasellus nec lectus bibendum, posuere </a:t>
            </a: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  Lacinia magna. Mauris orci mi, varius id diam id, egestas auctor</a:t>
            </a: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 Mauris orci mi, varius id diam id, egestas auctor enim</a:t>
            </a:r>
          </a:p>
          <a:p>
            <a:pPr algn="just">
              <a:lnSpc>
                <a:spcPts val="3167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  Duis vitae tincidunt tortor, vitae sollicitudin magna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C205E587-4D85-E83B-4A33-B7BFC8E89E46}"/>
              </a:ext>
            </a:extLst>
          </p:cNvPr>
          <p:cNvSpPr txBox="1">
            <a:spLocks/>
          </p:cNvSpPr>
          <p:nvPr/>
        </p:nvSpPr>
        <p:spPr>
          <a:xfrm>
            <a:off x="18827672" y="35479910"/>
            <a:ext cx="8114593" cy="391389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algn="just">
              <a:lnSpc>
                <a:spcPts val="3167"/>
              </a:lnSpc>
              <a:spcAft>
                <a:spcPts val="1000"/>
              </a:spcAft>
              <a:buClr>
                <a:schemeClr val="tx2"/>
              </a:buClr>
              <a:defRPr/>
            </a:pPr>
            <a:r>
              <a:rPr lang="en-US" sz="4000" b="1" dirty="0">
                <a:solidFill>
                  <a:srgbClr val="005BBB"/>
                </a:solidFill>
                <a:latin typeface="+mj-lt"/>
              </a:rPr>
              <a:t>Acknowledgement</a:t>
            </a:r>
            <a:endParaRPr lang="en-US" sz="2000" b="1" dirty="0">
              <a:solidFill>
                <a:srgbClr val="005BBB"/>
              </a:solidFill>
              <a:latin typeface="Arial" charset="0"/>
              <a:cs typeface="Arial" charset="0"/>
            </a:endParaRPr>
          </a:p>
          <a:p>
            <a:pPr algn="just">
              <a:lnSpc>
                <a:spcPts val="3167"/>
              </a:lnSpc>
              <a:spcAft>
                <a:spcPts val="1000"/>
              </a:spcAft>
              <a:buClr>
                <a:schemeClr val="tx2"/>
              </a:buClr>
              <a:defRPr/>
            </a:pP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Lorem ipsum dolor sit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amet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elit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.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Nullam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auctor,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tincidunt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aliquam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.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Nullam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auctor,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tincidunt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aliquam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. Sed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euismod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tincidunt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aliquam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2800" dirty="0" err="1">
                <a:latin typeface="Arial" charset="0"/>
                <a:ea typeface="Arial" charset="0"/>
                <a:cs typeface="Arial" charset="0"/>
              </a:rPr>
              <a:t>nisl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.</a:t>
            </a:r>
          </a:p>
        </p:txBody>
      </p:sp>
      <p:pic>
        <p:nvPicPr>
          <p:cNvPr id="16" name="Picture 15" descr="A screenshot of a graph">
            <a:extLst>
              <a:ext uri="{FF2B5EF4-FFF2-40B4-BE49-F238E27FC236}">
                <a16:creationId xmlns:a16="http://schemas.microsoft.com/office/drawing/2014/main" id="{8DC7D646-4865-55C5-F3CA-278F36198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868" y="31201493"/>
            <a:ext cx="7208703" cy="5012269"/>
          </a:xfrm>
          <a:prstGeom prst="rect">
            <a:avLst/>
          </a:prstGeom>
        </p:spPr>
      </p:pic>
      <p:pic>
        <p:nvPicPr>
          <p:cNvPr id="19" name="Picture 18" descr="A graph of a curve&#10;&#10;AI-generated content may be incorrect.">
            <a:extLst>
              <a:ext uri="{FF2B5EF4-FFF2-40B4-BE49-F238E27FC236}">
                <a16:creationId xmlns:a16="http://schemas.microsoft.com/office/drawing/2014/main" id="{25F411E4-234A-CBFA-29EF-C965C33D3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8979" y="3570821"/>
            <a:ext cx="7656412" cy="522995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EE4163-5C27-4906-3EC6-77FEC3F7A1CD}"/>
              </a:ext>
            </a:extLst>
          </p:cNvPr>
          <p:cNvCxnSpPr/>
          <p:nvPr/>
        </p:nvCxnSpPr>
        <p:spPr bwMode="auto">
          <a:xfrm>
            <a:off x="18827672" y="39381165"/>
            <a:ext cx="81534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8DE6E22-D330-C317-E198-DE37EE34287E}"/>
              </a:ext>
            </a:extLst>
          </p:cNvPr>
          <p:cNvSpPr txBox="1"/>
          <p:nvPr/>
        </p:nvSpPr>
        <p:spPr>
          <a:xfrm>
            <a:off x="18138515" y="9062335"/>
            <a:ext cx="929348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classes achieved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AUC &gt; 0.86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with the best results for: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bcc (0.962)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vasc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(0.945)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(0.920)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ROC curves confirm high sensitivity in detecting malignant and non-benign lesions across all categories.</a:t>
            </a:r>
          </a:p>
        </p:txBody>
      </p:sp>
      <p:pic>
        <p:nvPicPr>
          <p:cNvPr id="36" name="Picture 35" descr="A graph with different colored squares">
            <a:extLst>
              <a:ext uri="{FF2B5EF4-FFF2-40B4-BE49-F238E27FC236}">
                <a16:creationId xmlns:a16="http://schemas.microsoft.com/office/drawing/2014/main" id="{49CB60C5-B2F8-6459-1471-E23F40377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486" y="19637771"/>
            <a:ext cx="8845029" cy="54395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C03CE73-CEE3-610C-2F90-9366FA854865}"/>
              </a:ext>
            </a:extLst>
          </p:cNvPr>
          <p:cNvSpPr txBox="1"/>
          <p:nvPr/>
        </p:nvSpPr>
        <p:spPr>
          <a:xfrm>
            <a:off x="10276417" y="36438185"/>
            <a:ext cx="76753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ensemble shows strong class separation, with most predictions along the diagonal.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 performance is observed for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bcc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bkl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while misclassifications mainly occur between visually similar classes such as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mel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bkl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5" name="Picture 44" descr="A collage of several skin diseases">
            <a:extLst>
              <a:ext uri="{FF2B5EF4-FFF2-40B4-BE49-F238E27FC236}">
                <a16:creationId xmlns:a16="http://schemas.microsoft.com/office/drawing/2014/main" id="{13E79417-E912-0699-8C8B-1DF9B7D2B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9293" y="12170878"/>
            <a:ext cx="6779607" cy="516322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A52559F-7FB4-84DF-667F-C79A4D66067D}"/>
              </a:ext>
            </a:extLst>
          </p:cNvPr>
          <p:cNvSpPr txBox="1"/>
          <p:nvPr/>
        </p:nvSpPr>
        <p:spPr>
          <a:xfrm>
            <a:off x="18907125" y="17388185"/>
            <a:ext cx="62769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qualitative samples highlight: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Correct predictions where lesion structure and texture are clearly captured.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Misclassified cases, mainly among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mel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bkl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showing areas for improvement in ambiguous lesions.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D12C5B-5441-1FD3-A087-2CBDB013FE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788" y="4186743"/>
            <a:ext cx="7656412" cy="765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8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936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Mazid Ul Haque</dc:creator>
  <cp:lastModifiedBy>MD. SARAFAT ALI ADIR</cp:lastModifiedBy>
  <cp:revision>27</cp:revision>
  <dcterms:created xsi:type="dcterms:W3CDTF">2025-04-23T14:04:01Z</dcterms:created>
  <dcterms:modified xsi:type="dcterms:W3CDTF">2026-03-15T09:44:50Z</dcterms:modified>
</cp:coreProperties>
</file>